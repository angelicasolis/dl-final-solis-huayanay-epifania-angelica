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Lokb/Bp6eXlui829/QhrlGdxi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FC6E26-EFB7-40A7-B7BC-43643C264ED0}">
  <a:tblStyle styleId="{AFFC6E26-EFB7-40A7-B7BC-43643C264E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4D8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686800" y="45720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PROYECTO FINAL · DEEP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137160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Clasificación automática 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productos de moda con CNN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383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Aplicación de redes neuronales convolucionales para retail / e-commerce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640080" y="4206240"/>
            <a:ext cx="22860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640080" y="448056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Solís Huayanay, Epifanía Angélica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Modelos de Deep Learning · CENTRUM PUCP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Mayo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Problema y objetivo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698480" y="3657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280160"/>
            <a:ext cx="5303520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1280160"/>
            <a:ext cx="91440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68680" y="1920240"/>
            <a:ext cx="48463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 el comercio electrónico y los sistemas de inventario retail, clasificar imágenes de productos es una tarea operativa frecuente: cuando un comerciante sube una foto, la plataforma debería categorizarla sin etiquetado manual.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Esto reduce costos, acelera la publicación y mejora la búsqueda del usuario.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217920" y="1280160"/>
            <a:ext cx="5577840" cy="237744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44652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46520" y="192024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Clasificación multiclase de imágenes de prendas de vestir y accesorios en 10 categorías distintas.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17920" y="3931920"/>
            <a:ext cx="5577840" cy="23774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446520" y="4114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7E4F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46520" y="4572000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Entrenar una red neuronal convolucional (CNN) desde cero, evaluar su rendimiento con métricas estándar (accuracy, F1, matriz de confusión) y discutir su aplicación práctica en retail.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Dataset utilizado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698480" y="3657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56215" y="927685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Fashion-MNIST · Zalando 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56300" y="1364950"/>
            <a:ext cx="2539500" cy="11502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56290" y="1364955"/>
            <a:ext cx="2697600" cy="7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56278" y="1364940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60.000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56228" y="1921675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imágenes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entrenamiento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436650" y="1364950"/>
            <a:ext cx="2539500" cy="11502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3436650" y="1364955"/>
            <a:ext cx="2697600" cy="7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436638" y="1307765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10.000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436650" y="187015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imágenes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prueba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317000" y="1364950"/>
            <a:ext cx="2539500" cy="11502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317010" y="1364955"/>
            <a:ext cx="2697600" cy="7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317023" y="1273503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317060" y="180880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producto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197375" y="1364950"/>
            <a:ext cx="2499900" cy="11502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9197370" y="1364955"/>
            <a:ext cx="2697600" cy="7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9197395" y="1273490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28×28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197445" y="180880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píxeles, escala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grises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56228" y="2535605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Las 10 categorías: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56228" y="285085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56228" y="285085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👕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Camiseta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796507" y="285085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796507" y="285085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👖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Pantalón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36788" y="285085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036788" y="285085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🧥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Pulóver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277068" y="285085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7277068" y="285085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👗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Vestido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517348" y="285085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9517348" y="285085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🧥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Abrigo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56228" y="344521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56228" y="344521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👡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Sandalia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796507" y="344521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796507" y="344521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👔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Camisa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036788" y="344521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036788" y="344521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👟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Zapatilla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277068" y="344521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277068" y="344521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👜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Bolso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517348" y="3445215"/>
            <a:ext cx="2103000" cy="457200"/>
          </a:xfrm>
          <a:prstGeom prst="rect">
            <a:avLst/>
          </a:prstGeom>
          <a:solidFill>
            <a:srgbClr val="065A82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517348" y="344521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👢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Botín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71465" y="3957005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✓ Dataset perfectamente balanceado: 6.000 imágenes por clase en train, 1.000 por clase en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 title="Distribucion_Cla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675" y="4322700"/>
            <a:ext cx="7879776" cy="2384100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Ejemplos visuales por clase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1188720"/>
            <a:ext cx="6858000" cy="53035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680960" y="1188720"/>
            <a:ext cx="4114800" cy="530352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680960" y="1188720"/>
            <a:ext cx="91440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7955280" y="1371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OBSERVACIÓN CLAVE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955280" y="18288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Algunas clases son visualmente muy similares entre sí: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Camiseta · Camisa · Pulóver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Sandalia · Zapatilla · Botín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modelo deberá aprender detalles finos como mangas, cuellos o tipos de suela. Esta dificultad se reflejará luego en la matriz de confusión.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4" title="imag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550" y="1325888"/>
            <a:ext cx="3358499" cy="5029199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Modelo implementado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698480" y="3657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CNN compacta entrenada desde cero · ~102.000 parámetros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1691640"/>
            <a:ext cx="1691640" cy="91440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48640" y="17830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48640" y="2194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28×28×1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240280" y="192024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386584" y="1691640"/>
            <a:ext cx="169164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2386584" y="17830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386584" y="2194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BN +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078224" y="192024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224528" y="1691640"/>
            <a:ext cx="169164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224528" y="17830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224528" y="2194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BN +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916168" y="192024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062472" y="1691640"/>
            <a:ext cx="169164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062472" y="17830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 128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062472" y="2194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BN +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754112" y="192024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900416" y="1691640"/>
            <a:ext cx="169164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900416" y="17830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 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900416" y="2194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Dropout 0.4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592056" y="192024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738360" y="1691640"/>
            <a:ext cx="1691640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9738360" y="17830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Softmax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738360" y="2194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clases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Decisiones de diseño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5"/>
          <p:cNvGraphicFramePr/>
          <p:nvPr/>
        </p:nvGraphicFramePr>
        <p:xfrm>
          <a:off x="548640" y="338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{AFFC6E26-EFB7-40A7-B7BC-43643C264ED0}</a:tableStyleId>
              </a:tblPr>
              <a:tblGrid>
                <a:gridCol w="4114800"/>
                <a:gridCol w="69494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Justificación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bloques Conv2D + MaxPooling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Captura patrones jerárquicos: bordes → texturas → formas completas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BatchNormalization en cada bloque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Acelera y estabiliza el entrenamiento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GlobalAveragePooling (no Flatten)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 parámetros y previene overfitting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Dropout 0.4 / 0.3 en cabezal denso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Regulariza la red y mejora generalización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Optimizador Adam · lr = 1e-3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Estándar moderno, convergencia rápida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15 épocas · batch size 128 · EarlyStopping + ReduceLROnPlateau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1554480"/>
            <a:ext cx="7680960" cy="4937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503920" y="1554480"/>
            <a:ext cx="329184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503920" y="1554480"/>
            <a:ext cx="91440" cy="4937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778240" y="17373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HALLAZGOS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778240" y="2194560"/>
            <a:ext cx="29260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Convergencia rápida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loss baja de 0.65 a 0.13 en 15 épocas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Sin overfitting marcado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 y validación se mantienen cercanos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Ajuste automático de lr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ReduceLROnPlateau bajó a 5e-4 y 2.5e-4 en las épocas 10 y 14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Accuracy validación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~92% al cierre del entrenamiento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" title="imag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25" y="2407875"/>
            <a:ext cx="7563974" cy="3089375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Resultados en el conjunto de prueba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698480" y="3657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Evaluación sobre 10.000 imágenes nunca vistas durante el entrenamiento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8640" y="1691640"/>
            <a:ext cx="365760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48640" y="178308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92.38 %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48640" y="32461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9.238 / 10.000 imágenes correctas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389120" y="1691640"/>
            <a:ext cx="3657600" cy="21945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389120" y="178308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0.924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389120" y="28803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MACRO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389120" y="32461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Promedio sin ponderar entre clases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229600" y="1691640"/>
            <a:ext cx="3657600" cy="219456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229600" y="178308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7.62 %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229600" y="28803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TASA DE ERROR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8229600" y="32461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762 imágenes mal clasificadas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 por clase — mejores y peores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7"/>
          <p:cNvGraphicFramePr/>
          <p:nvPr/>
        </p:nvGraphicFramePr>
        <p:xfrm>
          <a:off x="548640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{AFFC6E26-EFB7-40A7-B7BC-43643C264ED0}</a:tableStyleId>
              </a:tblPr>
              <a:tblGrid>
                <a:gridCol w="3200400"/>
                <a:gridCol w="1554475"/>
                <a:gridCol w="4754875"/>
                <a:gridCol w="15544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Mejores clases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Clases más difíciles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D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Pantalón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Camisa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Bolso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Camiseta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Sandalia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Abrigo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Botín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Pulóver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Análisis de errores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Matriz de confusión: ¿qué clases confunde el modelo?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1554480"/>
            <a:ext cx="6858000" cy="4937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680960" y="1554480"/>
            <a:ext cx="41148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680960" y="1554480"/>
            <a:ext cx="91440" cy="4937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955280" y="17373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TOP 5 CONFUSIONES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955280" y="21945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Camiseta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Camisa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0881360" y="21945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955280" y="26974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Camisa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Camiseta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881360" y="269748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955280" y="32004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Pulóver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Abrigo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881360" y="320040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955280" y="37033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Abrigo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Camisa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0881360" y="37033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955280" y="42062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Vestido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Abrigo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0881360" y="420624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955280" y="5029200"/>
            <a:ext cx="3657600" cy="1280160"/>
          </a:xfrm>
          <a:prstGeom prst="rect">
            <a:avLst/>
          </a:prstGeom>
          <a:solidFill>
            <a:srgbClr val="065A8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092440" y="512064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INSIGHT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errores se concentran en prendas superiores (camiseta, camisa, pulóver, abrigo) que comparten silueta a 28×28 px.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8" title="imag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250" y="1737350"/>
            <a:ext cx="5305750" cy="4628999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Conclusiones y valor para la toma de decisiones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0698480" y="3657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48640" y="1280160"/>
            <a:ext cx="9144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6868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CONCLUSIONES TÉCNICAS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68680" y="1920240"/>
            <a:ext cx="50292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Una CNN compacta (~102K parámetros) entrenada desde cero alcanza 92.38 % de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GlobalAveragePooling + Dropout regularizan eficazmente sin sacrificar precisión.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errores se concentran en prendas visualmente similares: dificultad esperable y consistente con la confusión humana a baja resolución.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●"/>
            </a:pPr>
            <a:r>
              <a:rPr b="0" i="1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Limitaciones: 28×28 px en escala de grises no captura color, textura ni estampado — variables clave en moda real.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53796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VALOR PARA TOMA DE DECISIONES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537960" y="1920240"/>
            <a:ext cx="512064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Catalogación automática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Plataformas de e-commerce (Mercado Libre, marcas peruanas) reducen el etiquetado manual de productos.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Búsqueda mejorada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Clasifica fotos subidas por vendedores informales para mejorar filtros por categoría.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 visual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Cámaras en bodega cuentan productos por categoría sin intervención humana.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Detección de catálogo erróneo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Identifica productos mal etiquetados por baja confianza del modelo.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0B4D8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>
            <a:off x="640080" y="1920240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/>
          <p:nvPr/>
        </p:nvSpPr>
        <p:spPr>
          <a:xfrm>
            <a:off x="640080" y="2194560"/>
            <a:ext cx="109728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Rotaciones, zoom y desplazamientos para mejorar robustez ante imágenes reales.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Imágenes a color y mayor resolución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Migrar al dataset Fashion Product Images para capturar textura y color.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MobileNetV2 / EfficientNet preentrenadas para superar el rendimiento desde cero.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Despliegue en producción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API web (FastAPI + React) que reciba imágenes y devuelva categoría predicha.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2026-04-30T16:15:51Z</dcterms:created>
  <dc:creator>Solís Huayanay, Epifanía Angélica</dc:creator>
</cp:coreProperties>
</file>